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A9BD5"/>
          </a:solidFill>
          <a:ln w="12700">
            <a:solidFill>
              <a:srgbClr val="3A9B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457200"/>
            <a:ext cx="3200400" cy="3200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011680"/>
            <a:ext cx="2286000" cy="2286000"/>
          </a:xfrm>
          <a:prstGeom prst="ellipse">
            <a:avLst/>
          </a:prstGeom>
          <a:solidFill>
            <a:srgbClr val="2E6DA4">
              <a:alpha val="40000"/>
            </a:srgbClr>
          </a:solidFill>
          <a:ln w="12700">
            <a:solidFill>
              <a:srgbClr val="2E6DA4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A9BD5"/>
                </a:solidFill>
              </a:rPr>
              <a:t>LEADERSHIP BRIEFING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Return Mapping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A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Project Briefing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320040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175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Reproducible, analyst-driven workforce analytics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returns, staffing, and geography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|  Tax Year 2023 (Version 2)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3A9BD5"/>
          </a:solidFill>
          <a:ln w="12700">
            <a:solidFill>
              <a:srgbClr val="3A9B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658368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9BD5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1143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A"/>
                </a:solidFill>
              </a:rPr>
              <a:t>Background &amp; Purpose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45389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99"/>
                </a:solidFill>
              </a:rPr>
              <a:t>What ARM is and who it serves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47672"/>
            <a:ext cx="658368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39112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9BD5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34440" y="20391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A"/>
                </a:solidFill>
              </a:rPr>
              <a:t>Data &amp; Methodology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99"/>
                </a:solidFill>
              </a:rPr>
              <a:t>Underlying data sources, geocoding, and dashboard logic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43784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43784"/>
            <a:ext cx="658368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35224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9BD5"/>
                </a:solidFill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34440" y="29352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A"/>
                </a:solidFill>
              </a:rPr>
              <a:t>Version 2 Improvements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32461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99"/>
                </a:solidFill>
              </a:rPr>
              <a:t>What changed from v1 (TY 2019) to v2 (TY 2023)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739896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739896"/>
            <a:ext cx="658368" cy="7498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31336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9BD5"/>
                </a:solidFill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34440" y="38313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A"/>
                </a:solidFill>
              </a:rPr>
              <a:t>Next Steps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414223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99"/>
                </a:solidFill>
              </a:rPr>
              <a:t>ArcGIS / ESRI geospatial enhancements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9BD5"/>
                </a:solidFill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Purpose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258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A"/>
                </a:solidFill>
              </a:rPr>
              <a:t>What is ARM?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3520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4A"/>
                </a:solidFill>
              </a:rPr>
              <a:t>Agent Return Mapping (ARM) </a:t>
            </a:r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</a:rPr>
              <a:t>moves leadership reporting beyond static summaries into a reproducible, analyst-driven workflow.
</a:t>
            </a:r>
            <a:pPr indent="0" marL="0">
              <a:buNone/>
            </a:pPr>
            <a:r>
              <a:rPr lang="en-US" sz="1250" dirty="0">
                <a:solidFill>
                  <a:srgbClr val="1A2E4A"/>
                </a:solidFill>
              </a:rPr>
              <a:t>ARM enables consistent understanding of:
</a:t>
            </a:r>
            <a:pPr indent="0" marL="0">
              <a:buNone/>
            </a:pPr>
            <a:r>
              <a:rPr lang="en-US" sz="1250" dirty="0">
                <a:solidFill>
                  <a:srgbClr val="2E6DA4"/>
                </a:solidFill>
              </a:rPr>
              <a:t>• Available work (returns / compliance inventory)
</a:t>
            </a:r>
            <a:pPr indent="0" marL="0">
              <a:buNone/>
            </a:pPr>
            <a:r>
              <a:rPr lang="en-US" sz="1250" dirty="0">
                <a:solidFill>
                  <a:srgbClr val="2E6DA4"/>
                </a:solidFill>
              </a:rPr>
              <a:t>• Available personnel (revenue agents)
</a:t>
            </a:r>
            <a:pPr indent="0" marL="0">
              <a:buNone/>
            </a:pPr>
            <a:r>
              <a:rPr lang="en-US" sz="1250" dirty="0">
                <a:solidFill>
                  <a:srgbClr val="2E6DA4"/>
                </a:solidFill>
              </a:rPr>
              <a:t>• Geography across PODs and business units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4206240" cy="16002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9BD5"/>
                </a:solidFill>
              </a:rPr>
              <a:t>Audience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664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Team leads  ·  Analysts  ·  Leadership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9659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2FA"/>
                </a:solidFill>
              </a:rPr>
              <a:t>Supports workforce reshaping conversations and workload distribution decisions.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0" y="2926080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3063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</a:rPr>
              <a:t>Platform &amp; Scope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342900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</a:rPr>
              <a:t>Tableau </a:t>
            </a:r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interactive dashboard
</a:t>
            </a:r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</a:rPr>
              <a:t>Parameterized </a:t>
            </a:r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R / Python &amp; SQL processing
</a:t>
            </a:r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</a:rPr>
              <a:t>Business units: </a:t>
            </a:r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LBI, SBSE, TEGE
</a:t>
            </a:r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</a:rPr>
              <a:t>Filters: </a:t>
            </a:r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return type, NAICS industry, activity code, distance to POD
</a:t>
            </a:r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</a:rPr>
              <a:t>Access: </a:t>
            </a:r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Role-based; row-level security capable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9BD5"/>
                </a:solidFill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164592" cy="178308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</a:rPr>
              <a:t>Filing History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68249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▸  10-year filing history window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0299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▸  Exam details merged for closed exams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3774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▸  Project / tracking codes emphasized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18872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188720"/>
            <a:ext cx="164592" cy="1783080"/>
          </a:xfrm>
          <a:prstGeom prst="rect">
            <a:avLst/>
          </a:prstGeom>
          <a:solidFill>
            <a:srgbClr val="2D8A5E"/>
          </a:solidFill>
          <a:ln w="12700">
            <a:solidFill>
              <a:srgbClr val="2D8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56632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</a:rPr>
              <a:t>Return-Type Logic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56632" y="168249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▸  SQL logic via program_num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56632" y="20299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▸  Delineates paper vs. e-file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56632" y="23774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▸  Covers 1120, 1120S, 1120F, 1065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10896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108960"/>
            <a:ext cx="164592" cy="1783080"/>
          </a:xfrm>
          <a:prstGeom prst="rect">
            <a:avLst/>
          </a:prstGeom>
          <a:solidFill>
            <a:srgbClr val="C87941"/>
          </a:solidFill>
          <a:ln w="12700">
            <a:solidFill>
              <a:srgbClr val="C879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2186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</a:rPr>
              <a:t>Geocoding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" y="360273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▸  Switched to Tableau lat/lng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" y="39502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▸  City / state / ZIP5 partial address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" y="42976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▸  Handles missing ZIPs via closest POD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310896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108960"/>
            <a:ext cx="164592" cy="17830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32186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</a:rPr>
              <a:t>Dashboard Logic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56632" y="360273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▸  Distance color: Green / Yellow / Red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56632" y="39502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▸  Coverage ratio: percentile rank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56632" y="42976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A"/>
                </a:solidFill>
              </a:rPr>
              <a:t>▸  (agents ÷ returns) by state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9BD5"/>
                </a:solidFill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 Improvements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194560" cy="438912"/>
          </a:xfrm>
          <a:prstGeom prst="rect">
            <a:avLst/>
          </a:prstGeom>
          <a:solidFill>
            <a:srgbClr val="1A2E4A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9786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Category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14600" y="1143000"/>
            <a:ext cx="3200400" cy="438912"/>
          </a:xfrm>
          <a:prstGeom prst="rect">
            <a:avLst/>
          </a:prstGeom>
          <a:solidFill>
            <a:srgbClr val="1A2E4A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19786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Version 1 (TY 2019)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715000" y="1143000"/>
            <a:ext cx="3200400" cy="438912"/>
          </a:xfrm>
          <a:prstGeom prst="rect">
            <a:avLst/>
          </a:prstGeom>
          <a:solidFill>
            <a:srgbClr val="1A2E4A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6440" y="119786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Version 2 (TY 2023)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581912"/>
            <a:ext cx="2194560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63677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Filing History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14600" y="1581912"/>
            <a:ext cx="3200400" cy="438912"/>
          </a:xfrm>
          <a:prstGeom prst="rect">
            <a:avLst/>
          </a:prstGeom>
          <a:solidFill>
            <a:srgbClr val="E8F2FA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63677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</a:rPr>
              <a:t>10-year counts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715000" y="1581912"/>
            <a:ext cx="3200400" cy="438912"/>
          </a:xfrm>
          <a:prstGeom prst="rect">
            <a:avLst/>
          </a:prstGeom>
          <a:solidFill>
            <a:srgbClr val="E8F2FA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163677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</a:rPr>
              <a:t>10-year counts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2020824"/>
            <a:ext cx="2194560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07568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Exam Integration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14600" y="2020824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207568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</a:rPr>
              <a:t>History + closed exam details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715000" y="2020824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207568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</a:rPr>
              <a:t>Exam details to be incorporated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" y="2459736"/>
            <a:ext cx="2194560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5146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ZIP→Lat/Lng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14600" y="2459736"/>
            <a:ext cx="3200400" cy="438912"/>
          </a:xfrm>
          <a:prstGeom prst="rect">
            <a:avLst/>
          </a:prstGeom>
          <a:solidFill>
            <a:srgbClr val="E8F2FA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25146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</a:rPr>
              <a:t>zipcodeR (stale since 2017)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715000" y="2459736"/>
            <a:ext cx="3200400" cy="438912"/>
          </a:xfrm>
          <a:prstGeom prst="rect">
            <a:avLst/>
          </a:prstGeom>
          <a:solidFill>
            <a:srgbClr val="E8F2FA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25146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</a:rPr>
              <a:t>Tableau-generated lat/lng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0040" y="2898648"/>
            <a:ext cx="2194560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95351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Geocode Quality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14600" y="2898648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295351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</a:rPr>
              <a:t>ZIP-level, dependent on zipcodeR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715000" y="2898648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295351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</a:rPr>
              <a:t>City-level; fewer nulls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20040" y="3337560"/>
            <a:ext cx="2194560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39242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Manual Steps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514600" y="3337560"/>
            <a:ext cx="3200400" cy="438912"/>
          </a:xfrm>
          <a:prstGeom prst="rect">
            <a:avLst/>
          </a:prstGeom>
          <a:solidFill>
            <a:srgbClr val="E8F2FA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06040" y="339242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</a:rPr>
              <a:t>Manual fixes present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715000" y="3337560"/>
            <a:ext cx="3200400" cy="438912"/>
          </a:xfrm>
          <a:prstGeom prst="rect">
            <a:avLst/>
          </a:prstGeom>
          <a:solidFill>
            <a:srgbClr val="E8F2FA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06440" y="339242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</a:rPr>
              <a:t>All manual steps removed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20040" y="3776472"/>
            <a:ext cx="2194560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83133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ZIP↔POD Mapping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514600" y="3776472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06040" y="383133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</a:rPr>
              <a:t>2022 mapping file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715000" y="3776472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06440" y="383133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</a:rPr>
              <a:t>2024 mapping file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320040" y="4215384"/>
            <a:ext cx="2194560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27024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Missing ZIP Handling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514600" y="4215384"/>
            <a:ext cx="3200400" cy="438912"/>
          </a:xfrm>
          <a:prstGeom prst="rect">
            <a:avLst/>
          </a:prstGeom>
          <a:solidFill>
            <a:srgbClr val="E8F2FA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06040" y="42702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</a:rPr>
              <a:t>Not geocoded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715000" y="4215384"/>
            <a:ext cx="3200400" cy="438912"/>
          </a:xfrm>
          <a:prstGeom prst="rect">
            <a:avLst/>
          </a:prstGeom>
          <a:solidFill>
            <a:srgbClr val="E8F2FA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06440" y="42702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</a:rPr>
              <a:t>Closest POD ZIP geocoding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320040" y="4654296"/>
            <a:ext cx="2194560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47091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POD Definition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514600" y="4654296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06040" y="47091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</a:rPr>
              <a:t>Different core POD list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5715000" y="4654296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C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06440" y="47091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A"/>
                </a:solidFill>
              </a:rPr>
              <a:t>253 core PODs (BU-agnostic)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A9BD5"/>
          </a:solidFill>
          <a:ln w="12700">
            <a:solidFill>
              <a:srgbClr val="3A9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9BD5"/>
                </a:solidFill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1097280"/>
          </a:xfrm>
          <a:prstGeom prst="rect">
            <a:avLst/>
          </a:prstGeom>
          <a:solidFill>
            <a:srgbClr val="1E3A5F"/>
          </a:solidFill>
          <a:ln w="19050">
            <a:solidFill>
              <a:srgbClr val="3A9B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9BD5"/>
                </a:solidFill>
              </a:rPr>
              <a:t>ArcGIS / ESRI Geospatial Stack Enhancement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2FA"/>
                </a:solidFill>
              </a:rPr>
              <a:t>Lead: Brandon Knight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2651760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514600"/>
            <a:ext cx="2651760" cy="73152"/>
          </a:xfrm>
          <a:prstGeom prst="rect">
            <a:avLst/>
          </a:prstGeom>
          <a:solidFill>
            <a:srgbClr val="3A9BD5"/>
          </a:solidFill>
          <a:ln w="12700">
            <a:solidFill>
              <a:srgbClr val="3A9B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334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9BD5"/>
                </a:solidFill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" y="3063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Geocoding Upgrade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352044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2FA"/>
                </a:solidFill>
              </a:rPr>
              <a:t>Replace Tableau's city-level geocoding with ArcGIS precision geocoding to eliminate multi-ZIP mapping to the same point.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2514600"/>
            <a:ext cx="2651760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2514600"/>
            <a:ext cx="2651760" cy="73152"/>
          </a:xfrm>
          <a:prstGeom prst="rect">
            <a:avLst/>
          </a:prstGeom>
          <a:solidFill>
            <a:srgbClr val="3A9BD5"/>
          </a:solidFill>
          <a:ln w="12700">
            <a:solidFill>
              <a:srgbClr val="3A9B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6334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9BD5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10128" y="3063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ZIP ↔ POD Mapping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352044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2FA"/>
                </a:solidFill>
              </a:rPr>
              <a:t>Adopt ESRI's ZIP→POD mapping tool (already in use by SBSE for workload assignments and research).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2514600"/>
            <a:ext cx="2651760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2514600"/>
            <a:ext cx="2651760" cy="73152"/>
          </a:xfrm>
          <a:prstGeom prst="rect">
            <a:avLst/>
          </a:prstGeom>
          <a:solidFill>
            <a:srgbClr val="3A9BD5"/>
          </a:solidFill>
          <a:ln w="12700">
            <a:solidFill>
              <a:srgbClr val="3A9B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6334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9BD5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44768" y="3063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Spatial Analysis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44768" y="352044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2FA"/>
                </a:solidFill>
              </a:rPr>
              <a:t>Leverage ArcGIS spatial analysis capabilities for richer workforce distribution insights and improved coverage metrics.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A9BD5"/>
          </a:solidFill>
          <a:ln w="12700">
            <a:solidFill>
              <a:srgbClr val="3A9B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657600" cy="36576"/>
          </a:xfrm>
          <a:prstGeom prst="rect">
            <a:avLst/>
          </a:prstGeom>
          <a:solidFill>
            <a:srgbClr val="3A9BD5"/>
          </a:solidFill>
          <a:ln w="12700">
            <a:solidFill>
              <a:srgbClr val="3A9B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8229600" cy="685800"/>
          </a:xfrm>
          <a:prstGeom prst="rect">
            <a:avLst/>
          </a:prstGeom>
          <a:solidFill>
            <a:srgbClr val="1E3A5F"/>
          </a:solidFill>
          <a:ln w="6350">
            <a:solidFill>
              <a:srgbClr val="2E6D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9BD5"/>
                </a:solidFill>
              </a:rPr>
              <a:t>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2FA"/>
                </a:solidFill>
              </a:rPr>
              <a:t>ARM provides a reproducible, refreshable view of work vs. staffing across PODs and business units.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8229600" cy="685800"/>
          </a:xfrm>
          <a:prstGeom prst="rect">
            <a:avLst/>
          </a:prstGeom>
          <a:solidFill>
            <a:srgbClr val="1E3A5F"/>
          </a:solidFill>
          <a:ln w="6350">
            <a:solidFill>
              <a:srgbClr val="2E6D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9BD5"/>
                </a:solidFill>
              </a:rPr>
              <a:t>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2402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2FA"/>
                </a:solidFill>
              </a:rPr>
              <a:t>Version 2 eliminates manual steps, updates geocoding, and applies a 2024 ZIP↔POD mapping file.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971800"/>
            <a:ext cx="8229600" cy="685800"/>
          </a:xfrm>
          <a:prstGeom prst="rect">
            <a:avLst/>
          </a:prstGeom>
          <a:solidFill>
            <a:srgbClr val="1E3A5F"/>
          </a:solidFill>
          <a:ln w="6350">
            <a:solidFill>
              <a:srgbClr val="2E6D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9BD5"/>
                </a:solidFill>
              </a:rPr>
              <a:t>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06324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2FA"/>
                </a:solidFill>
              </a:rPr>
              <a:t>Scope covers LBI, SBSE, and TEGE with flexible filtering by return type, industry, and geography.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794760"/>
            <a:ext cx="8229600" cy="685800"/>
          </a:xfrm>
          <a:prstGeom prst="rect">
            <a:avLst/>
          </a:prstGeom>
          <a:solidFill>
            <a:srgbClr val="1E3A5F"/>
          </a:solidFill>
          <a:ln w="6350">
            <a:solidFill>
              <a:srgbClr val="2E6D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9BD5"/>
                </a:solidFill>
              </a:rPr>
              <a:t>✔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8862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2FA"/>
                </a:solidFill>
              </a:rPr>
              <a:t>Next phase: ArcGIS integration to resolve geocoding limitations and enhance spatial analysis capability.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864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 Project Briefing</dc:title>
  <dc:subject>PptxGenJS Presentation</dc:subject>
  <dc:creator>PptxGenJS</dc:creator>
  <cp:lastModifiedBy>PptxGenJS</cp:lastModifiedBy>
  <cp:revision>1</cp:revision>
  <dcterms:created xsi:type="dcterms:W3CDTF">2026-04-24T13:54:15Z</dcterms:created>
  <dcterms:modified xsi:type="dcterms:W3CDTF">2026-04-24T13:54:15Z</dcterms:modified>
</cp:coreProperties>
</file>